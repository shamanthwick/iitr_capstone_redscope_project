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embeddedFontLst>
    <p:embeddedFont>
      <p:font typeface="Gelasio"/>
      <p:regular r:id="rId201314"/>
    </p:embeddedFont>
    <p:embeddedFont>
      <p:font typeface="Gelasio SemiBold"/>
      <p:regular r:id="rId201315"/>
    </p:embeddedFont>
    <p:embeddedFont>
      <p:font typeface="Gelasio Bold"/>
      <p:regular r:id="rId201316"/>
    </p:embeddedFont>
    <p:embeddedFont>
      <p:font typeface="Gelasio Medium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1.png"/><Relationship Id="rId4" Type="http://schemas.openxmlformats.org/officeDocument/2006/relationships/image" Target="../media/image-5-2.svg"/><Relationship Id="rId5" Type="http://schemas.openxmlformats.org/officeDocument/2006/relationships/image" Target="../media/image-5-1.png"/><Relationship Id="rId6" Type="http://schemas.openxmlformats.org/officeDocument/2006/relationships/image" Target="../media/image-5-2.svg"/><Relationship Id="rId7" Type="http://schemas.openxmlformats.org/officeDocument/2006/relationships/image" Target="../media/image-5-1.png"/><Relationship Id="rId8" Type="http://schemas.openxmlformats.org/officeDocument/2006/relationships/image" Target="../media/image-5-2.svg"/><Relationship Id="rId9" Type="http://schemas.openxmlformats.org/officeDocument/2006/relationships/image" Target="../media/image-5-1.png"/><Relationship Id="rId10" Type="http://schemas.openxmlformats.org/officeDocument/2006/relationships/image" Target="../media/image-5-2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2.png"/><Relationship Id="rId5" Type="http://schemas.openxmlformats.org/officeDocument/2006/relationships/image" Target="../media/image-6-3.svg"/><Relationship Id="rId6" Type="http://schemas.openxmlformats.org/officeDocument/2006/relationships/image" Target="../media/image-6-2.png"/><Relationship Id="rId7" Type="http://schemas.openxmlformats.org/officeDocument/2006/relationships/image" Target="../media/image-6-3.svg"/><Relationship Id="rId8" Type="http://schemas.openxmlformats.org/officeDocument/2006/relationships/image" Target="../media/image-6-2.png"/><Relationship Id="rId9" Type="http://schemas.openxmlformats.org/officeDocument/2006/relationships/image" Target="../media/image-6-3.svg"/><Relationship Id="rId10" Type="http://schemas.openxmlformats.org/officeDocument/2006/relationships/image" Target="../media/image-6-2.png"/><Relationship Id="rId11" Type="http://schemas.openxmlformats.org/officeDocument/2006/relationships/image" Target="../media/image-6-3.sv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695722"/>
            <a:ext cx="6296860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RedScope Capstone Project</a:t>
            </a:r>
            <a:endParaRPr lang="en-US" sz="3150" dirty="0"/>
          </a:p>
        </p:txBody>
      </p:sp>
      <p:sp>
        <p:nvSpPr>
          <p:cNvPr id="4" name="Text 1"/>
          <p:cNvSpPr/>
          <p:nvPr/>
        </p:nvSpPr>
        <p:spPr>
          <a:xfrm>
            <a:off x="661475" y="1402556"/>
            <a:ext cx="6906444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Lab-only Red-Team Assessment with Detection and Remediation Focus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661475" y="1793875"/>
            <a:ext cx="6296860" cy="891877"/>
          </a:xfrm>
          <a:prstGeom prst="roundRect">
            <a:avLst>
              <a:gd name="adj" fmla="val 2702"/>
            </a:avLst>
          </a:prstGeom>
          <a:solidFill>
            <a:srgbClr val="EEE8DD"/>
          </a:solidFill>
          <a:ln/>
        </p:spPr>
      </p:sp>
      <p:sp>
        <p:nvSpPr>
          <p:cNvPr id="6" name="Text 3"/>
          <p:cNvSpPr/>
          <p:nvPr/>
        </p:nvSpPr>
        <p:spPr>
          <a:xfrm>
            <a:off x="822106" y="1954510"/>
            <a:ext cx="597559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Shamanth R Singh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822106" y="2287389"/>
            <a:ext cx="5975597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Network foothold and post-exploitation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61475" y="2822277"/>
            <a:ext cx="6296860" cy="891877"/>
          </a:xfrm>
          <a:prstGeom prst="roundRect">
            <a:avLst>
              <a:gd name="adj" fmla="val 2702"/>
            </a:avLst>
          </a:prstGeom>
          <a:solidFill>
            <a:srgbClr val="EEE8DD"/>
          </a:solidFill>
          <a:ln/>
        </p:spPr>
      </p:sp>
      <p:sp>
        <p:nvSpPr>
          <p:cNvPr id="9" name="Text 6"/>
          <p:cNvSpPr/>
          <p:nvPr/>
        </p:nvSpPr>
        <p:spPr>
          <a:xfrm>
            <a:off x="822106" y="2982913"/>
            <a:ext cx="597559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Ajit Mohan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22106" y="3315791"/>
            <a:ext cx="5975597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Scope, web exploit summary, coordination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61475" y="3850680"/>
            <a:ext cx="6296860" cy="891877"/>
          </a:xfrm>
          <a:prstGeom prst="roundRect">
            <a:avLst>
              <a:gd name="adj" fmla="val 2702"/>
            </a:avLst>
          </a:prstGeom>
          <a:solidFill>
            <a:srgbClr val="EEE8DD"/>
          </a:solidFill>
          <a:ln/>
        </p:spPr>
      </p:sp>
      <p:sp>
        <p:nvSpPr>
          <p:cNvPr id="12" name="Text 9"/>
          <p:cNvSpPr/>
          <p:nvPr/>
        </p:nvSpPr>
        <p:spPr>
          <a:xfrm>
            <a:off x="822106" y="4011315"/>
            <a:ext cx="597559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Saiteja Kacham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822106" y="4344194"/>
            <a:ext cx="5975597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ML detector and evasion work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61475" y="4879082"/>
            <a:ext cx="6296860" cy="891877"/>
          </a:xfrm>
          <a:prstGeom prst="roundRect">
            <a:avLst>
              <a:gd name="adj" fmla="val 2702"/>
            </a:avLst>
          </a:prstGeom>
          <a:solidFill>
            <a:srgbClr val="EEE8DD"/>
          </a:solidFill>
          <a:ln/>
        </p:spPr>
      </p:sp>
      <p:sp>
        <p:nvSpPr>
          <p:cNvPr id="15" name="Text 12"/>
          <p:cNvSpPr/>
          <p:nvPr/>
        </p:nvSpPr>
        <p:spPr>
          <a:xfrm>
            <a:off x="822106" y="5039717"/>
            <a:ext cx="597559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Madhurjya Deka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822106" y="5372596"/>
            <a:ext cx="5975597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Remediation and business impact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356682" y="5924550"/>
            <a:ext cx="6906444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3000"/>
              </a:lnSpc>
              <a:buNone/>
            </a:pPr>
            <a:r>
              <a:rPr lang="en-US" sz="1250" i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Speaker: </a:t>
            </a:r>
            <a:pPr algn="ctr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Ajit Mohan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673298"/>
            <a:ext cx="6296860" cy="1122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Project Objective and Why It Matters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5233360" y="2222103"/>
            <a:ext cx="292936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Objective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5233360" y="2673152"/>
            <a:ext cx="2929360" cy="29798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Simulate a realistic attacker path in a safe lab environment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Identify how web and network weaknesses can lead to broader compromise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Test detection logic, including ML-based detection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Translate technical findings into business risk and remediation priorities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607210" y="2222103"/>
            <a:ext cx="292936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Why It Matters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8607210" y="2673152"/>
            <a:ext cx="2929360" cy="2419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Security gaps rarely exist in isolation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Attackers chain small weaknesses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Detection must be validated, not assumed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Remediation must be risk-based and business-aligned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928568" y="5904508"/>
            <a:ext cx="6906444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Speaker: </a:t>
            </a:r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Ajit Mohan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7718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Scope and Rules of Engagement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840309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In Scope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324596"/>
            <a:ext cx="5203794" cy="2447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Lab-only environment — controlled assets and test systems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Web exploitation assessment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Network compromise simulation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Post-exploitation observation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ML detector and evasion testing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Remediation and risk mapping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332776" y="1840309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Out of Scope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332776" y="2324596"/>
            <a:ext cx="5203794" cy="1776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Real public systems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Unauthorised access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Credential abuse outside lab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Destructive payloads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Persistence beyond test intent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332776" y="4313634"/>
            <a:ext cx="5203794" cy="1039416"/>
          </a:xfrm>
          <a:prstGeom prst="roundRect">
            <a:avLst>
              <a:gd name="adj" fmla="val 2728"/>
            </a:avLst>
          </a:prstGeom>
          <a:solidFill>
            <a:srgbClr val="ECE6D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1783" y="4587677"/>
            <a:ext cx="236234" cy="1890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947024" y="4530923"/>
            <a:ext cx="440053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All activity was conducted in a controlled, isolated lab environment only.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356682" y="5778302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Speaker: </a:t>
            </a:r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Ajit Mohan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77863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End-to-End Attack Chain Overview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1276548"/>
            <a:ext cx="1147833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RedScope Assessment Flow — eight sequential phases from reconnaissance to business impact mapping.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6665" y="1560711"/>
            <a:ext cx="5878266" cy="405100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303916" y="4081389"/>
            <a:ext cx="1606356" cy="213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Recon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672761" y="2380247"/>
            <a:ext cx="1658542" cy="213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App Weakness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786142" y="4579606"/>
            <a:ext cx="1606356" cy="213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Initial Access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212046" y="2828060"/>
            <a:ext cx="1606356" cy="213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Network Foothold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61475" y="5715893"/>
            <a:ext cx="1147833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Each phase builds on the previous, demonstrating how a single weakness can chain into a broader compromise — and where defenders can intervene at every stage.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56682" y="6000055"/>
            <a:ext cx="1147833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000" i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Handoff: </a:t>
            </a:r>
            <a:pPr algn="ctr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Ajit Mohan to</a:t>
            </a:r>
            <a:pPr algn="ctr" indent="0" marL="0">
              <a:lnSpc>
                <a:spcPct val="113000"/>
              </a:lnSpc>
              <a:buNone/>
            </a:pPr>
            <a:r>
              <a:rPr lang="en-US" sz="1000" i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Shamanth R 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193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Web Exploit Summary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20818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Web Exploitation Focus</a:t>
            </a:r>
            <a:endParaRPr lang="en-US" sz="1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786930"/>
            <a:ext cx="3496877" cy="144234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77479" y="2001341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Surface Identification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977479" y="2410023"/>
            <a:ext cx="296646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Identify exposed web attack surface across the lab environment</a:t>
            </a:r>
            <a:endParaRPr lang="en-US" sz="14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7359" y="1786930"/>
            <a:ext cx="3496877" cy="144234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63363" y="2001341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Input and Auth Analysis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4663363" y="2410023"/>
            <a:ext cx="296646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Analyse input handling and authentication-related weaknesses</a:t>
            </a:r>
            <a:endParaRPr lang="en-US" sz="14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33244" y="1786930"/>
            <a:ext cx="3496877" cy="144234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349247" y="2001341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Chaining Validation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8349247" y="2410023"/>
            <a:ext cx="296646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Validate whether weaknesses can be chained for greater impact</a:t>
            </a:r>
            <a:endParaRPr lang="en-US" sz="14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3418284"/>
            <a:ext cx="3496877" cy="144234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77479" y="3632696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Documentation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977479" y="4041378"/>
            <a:ext cx="296646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Document findings with severity and reproducibility ratings</a:t>
            </a:r>
            <a:endParaRPr lang="en-US" sz="14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47359" y="3418284"/>
            <a:ext cx="3496877" cy="144234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663363" y="3632696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Defensive Lessons</a:t>
            </a:r>
            <a:endParaRPr lang="en-US" sz="1850" dirty="0"/>
          </a:p>
        </p:txBody>
      </p:sp>
      <p:sp>
        <p:nvSpPr>
          <p:cNvPr id="18" name="Text 11"/>
          <p:cNvSpPr/>
          <p:nvPr/>
        </p:nvSpPr>
        <p:spPr>
          <a:xfrm>
            <a:off x="4663363" y="4041378"/>
            <a:ext cx="296646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Capture defensive lessons from the web layer</a:t>
            </a:r>
            <a:endParaRPr lang="en-US" sz="1450" dirty="0"/>
          </a:p>
        </p:txBody>
      </p:sp>
      <p:sp>
        <p:nvSpPr>
          <p:cNvPr id="19" name="Shape 12"/>
          <p:cNvSpPr/>
          <p:nvPr/>
        </p:nvSpPr>
        <p:spPr>
          <a:xfrm>
            <a:off x="661475" y="5073253"/>
            <a:ext cx="25399" cy="727670"/>
          </a:xfrm>
          <a:prstGeom prst="roundRect">
            <a:avLst>
              <a:gd name="adj" fmla="val 60001"/>
            </a:avLst>
          </a:prstGeom>
          <a:solidFill>
            <a:srgbClr val="D3C5B6"/>
          </a:solidFill>
          <a:ln/>
        </p:spPr>
      </p:sp>
      <p:sp>
        <p:nvSpPr>
          <p:cNvPr id="20" name="Text 13"/>
          <p:cNvSpPr/>
          <p:nvPr/>
        </p:nvSpPr>
        <p:spPr>
          <a:xfrm>
            <a:off x="944936" y="5285879"/>
            <a:ext cx="1119486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Key Learning: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Web weaknesses become more serious when they enable movement into deeper systems.</a:t>
            </a:r>
            <a:endParaRPr lang="en-US" sz="1450" dirty="0"/>
          </a:p>
        </p:txBody>
      </p:sp>
      <p:sp>
        <p:nvSpPr>
          <p:cNvPr id="21" name="Text 14"/>
          <p:cNvSpPr/>
          <p:nvPr/>
        </p:nvSpPr>
        <p:spPr>
          <a:xfrm>
            <a:off x="356682" y="6013549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Speaker: Shamanth R Singh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8836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Transition: Web Layer to Network Context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4238" y="2326382"/>
            <a:ext cx="4866161" cy="2757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42163" y="1173758"/>
            <a:ext cx="359430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From Web Layer to Network Context</a:t>
            </a:r>
            <a:endParaRPr lang="en-US" sz="13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91771" y="1488678"/>
            <a:ext cx="198433" cy="19843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372067" y="1484610"/>
            <a:ext cx="3164404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Initial Weakness Creates Opportunity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8372067" y="1783854"/>
            <a:ext cx="3164404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 web-layer finding opens the door to the internal network</a:t>
            </a:r>
            <a:endParaRPr lang="en-US" sz="10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91771" y="2333129"/>
            <a:ext cx="198433" cy="19843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372067" y="2329061"/>
            <a:ext cx="3164404" cy="4133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Network Exposure Determines Blast Radius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8372067" y="2834977"/>
            <a:ext cx="3164404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Reachable systems define how far an attacker can move</a:t>
            </a:r>
            <a:endParaRPr lang="en-US" sz="10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91771" y="3384252"/>
            <a:ext cx="198433" cy="19843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372067" y="3380184"/>
            <a:ext cx="3164404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Privilege Boundaries Become Critical</a:t>
            </a:r>
            <a:endParaRPr lang="en-US" sz="1300" dirty="0"/>
          </a:p>
        </p:txBody>
      </p:sp>
      <p:sp>
        <p:nvSpPr>
          <p:cNvPr id="13" name="Text 7"/>
          <p:cNvSpPr/>
          <p:nvPr/>
        </p:nvSpPr>
        <p:spPr>
          <a:xfrm>
            <a:off x="8372067" y="3679428"/>
            <a:ext cx="3164404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Least privilege limits what an attacker can do post-access</a:t>
            </a:r>
            <a:endParaRPr lang="en-US" sz="10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91771" y="4228703"/>
            <a:ext cx="198433" cy="19843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372067" y="4224635"/>
            <a:ext cx="3164404" cy="4133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Monitoring Must Capture Lateral Movement</a:t>
            </a:r>
            <a:endParaRPr lang="en-US" sz="1300" dirty="0"/>
          </a:p>
        </p:txBody>
      </p:sp>
      <p:sp>
        <p:nvSpPr>
          <p:cNvPr id="16" name="Text 9"/>
          <p:cNvSpPr/>
          <p:nvPr/>
        </p:nvSpPr>
        <p:spPr>
          <a:xfrm>
            <a:off x="8372067" y="4730552"/>
            <a:ext cx="3164404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Detection must extend beyond the web perimeter</a:t>
            </a:r>
            <a:endParaRPr lang="en-US" sz="10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991771" y="5099844"/>
            <a:ext cx="198433" cy="19843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372067" y="5095776"/>
            <a:ext cx="3164404" cy="4133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Segmentation Reduces Attacker Options</a:t>
            </a:r>
            <a:endParaRPr lang="en-US" sz="1300" dirty="0"/>
          </a:p>
        </p:txBody>
      </p:sp>
      <p:sp>
        <p:nvSpPr>
          <p:cNvPr id="19" name="Text 11"/>
          <p:cNvSpPr/>
          <p:nvPr/>
        </p:nvSpPr>
        <p:spPr>
          <a:xfrm>
            <a:off x="8372067" y="5601692"/>
            <a:ext cx="3164404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Proper segmentation contains the impact of initial compromise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7942163" y="6065838"/>
            <a:ext cx="4203892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i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Speaker: Shamanth R Singh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55625"/>
            <a:ext cx="6296860" cy="1004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Network Foothold and Post-Exploitation</a:t>
            </a:r>
            <a:endParaRPr lang="en-US" sz="3150" dirty="0"/>
          </a:p>
        </p:txBody>
      </p:sp>
      <p:sp>
        <p:nvSpPr>
          <p:cNvPr id="4" name="Text 1"/>
          <p:cNvSpPr/>
          <p:nvPr/>
        </p:nvSpPr>
        <p:spPr>
          <a:xfrm>
            <a:off x="5233360" y="1901031"/>
            <a:ext cx="295247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Network Foothold Analysis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5233360" y="2288580"/>
            <a:ext cx="2952478" cy="25681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Understand what access is possible after initial compromise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Identify reachable systems and exposed services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Evaluate segmentation and privilege boundaries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Observe attacker-like behaviour in a controlled lab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Map potential paths to sensitive assets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8584092" y="1901031"/>
            <a:ext cx="295247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Post-Exploitation View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8584092" y="2305645"/>
            <a:ext cx="2952478" cy="823317"/>
          </a:xfrm>
          <a:prstGeom prst="roundRect">
            <a:avLst>
              <a:gd name="adj" fmla="val 2927"/>
            </a:avLst>
          </a:prstGeom>
          <a:solidFill>
            <a:srgbClr val="EEE8DD"/>
          </a:solidFill>
          <a:ln/>
        </p:spPr>
      </p:sp>
      <p:sp>
        <p:nvSpPr>
          <p:cNvPr id="8" name="Text 5"/>
          <p:cNvSpPr/>
          <p:nvPr/>
        </p:nvSpPr>
        <p:spPr>
          <a:xfrm>
            <a:off x="8744723" y="2466280"/>
            <a:ext cx="2631215" cy="502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What could an attacker see?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8584092" y="3265488"/>
            <a:ext cx="2952478" cy="572294"/>
          </a:xfrm>
          <a:prstGeom prst="roundRect">
            <a:avLst>
              <a:gd name="adj" fmla="val 4211"/>
            </a:avLst>
          </a:prstGeom>
          <a:solidFill>
            <a:srgbClr val="EEE8DD"/>
          </a:solidFill>
          <a:ln/>
        </p:spPr>
      </p:sp>
      <p:sp>
        <p:nvSpPr>
          <p:cNvPr id="10" name="Text 7"/>
          <p:cNvSpPr/>
          <p:nvPr/>
        </p:nvSpPr>
        <p:spPr>
          <a:xfrm>
            <a:off x="8744723" y="3426123"/>
            <a:ext cx="2631215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What could they access?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8584092" y="3974306"/>
            <a:ext cx="2952478" cy="823317"/>
          </a:xfrm>
          <a:prstGeom prst="roundRect">
            <a:avLst>
              <a:gd name="adj" fmla="val 2927"/>
            </a:avLst>
          </a:prstGeom>
          <a:solidFill>
            <a:srgbClr val="EEE8DD"/>
          </a:solidFill>
          <a:ln/>
        </p:spPr>
      </p:sp>
      <p:sp>
        <p:nvSpPr>
          <p:cNvPr id="12" name="Text 9"/>
          <p:cNvSpPr/>
          <p:nvPr/>
        </p:nvSpPr>
        <p:spPr>
          <a:xfrm>
            <a:off x="8744723" y="4134941"/>
            <a:ext cx="2631215" cy="502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What traces would defenders need?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8584092" y="4934148"/>
            <a:ext cx="2952478" cy="823317"/>
          </a:xfrm>
          <a:prstGeom prst="roundRect">
            <a:avLst>
              <a:gd name="adj" fmla="val 2927"/>
            </a:avLst>
          </a:prstGeom>
          <a:solidFill>
            <a:srgbClr val="EEE8DD"/>
          </a:solidFill>
          <a:ln/>
        </p:spPr>
      </p:sp>
      <p:sp>
        <p:nvSpPr>
          <p:cNvPr id="14" name="Text 11"/>
          <p:cNvSpPr/>
          <p:nvPr/>
        </p:nvSpPr>
        <p:spPr>
          <a:xfrm>
            <a:off x="8744723" y="5094784"/>
            <a:ext cx="2631215" cy="502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Which controls limit impact?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4928568" y="6064647"/>
            <a:ext cx="6906444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3000"/>
              </a:lnSpc>
              <a:buNone/>
            </a:pPr>
            <a:r>
              <a:rPr lang="en-US" sz="1250" i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Speaker: Shamanth R Singh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37109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Post-Exploitation Findings and Defensive Lessons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442" y="1940520"/>
            <a:ext cx="6227408" cy="33072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225006" y="4483522"/>
            <a:ext cx="1449862" cy="181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Behavioral Logging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225006" y="4716312"/>
            <a:ext cx="2358442" cy="137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Detect via auth and service activity.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727625" y="3781127"/>
            <a:ext cx="1449862" cy="181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Least Privilege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727625" y="4013917"/>
            <a:ext cx="2358442" cy="137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Reduce available escalation and options.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676074" y="2917633"/>
            <a:ext cx="1645291" cy="181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Network Segmentation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676074" y="3150422"/>
            <a:ext cx="2358442" cy="137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Limit lateral movement and blast radius.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121905" y="2137910"/>
            <a:ext cx="1449862" cy="181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Contain Access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121905" y="2370699"/>
            <a:ext cx="2358442" cy="137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900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Stop initial access fast.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002189" y="1751409"/>
            <a:ext cx="353428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Defensive Lessons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8002189" y="2170212"/>
            <a:ext cx="3534282" cy="2024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Initial access must be contained quickly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Network segmentation limits blast radius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Least privilege reduces movement options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Logging must cover authentication, service access, and unusual behaviour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Detection should focus on behaviour, not only signatures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002189" y="4366716"/>
            <a:ext cx="19050" cy="1051024"/>
          </a:xfrm>
          <a:prstGeom prst="roundRect">
            <a:avLst>
              <a:gd name="adj" fmla="val 59999"/>
            </a:avLst>
          </a:prstGeom>
          <a:solidFill>
            <a:srgbClr val="D3C5B6"/>
          </a:solidFill>
          <a:ln/>
        </p:spPr>
      </p:sp>
      <p:sp>
        <p:nvSpPr>
          <p:cNvPr id="15" name="Text 12"/>
          <p:cNvSpPr/>
          <p:nvPr/>
        </p:nvSpPr>
        <p:spPr>
          <a:xfrm>
            <a:off x="8257274" y="4504432"/>
            <a:ext cx="3279197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Security Principle: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Assume compromise. Design controls to limit movement and detect abnormal activity.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56682" y="5762327"/>
            <a:ext cx="1147833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7000"/>
              </a:lnSpc>
              <a:buNone/>
            </a:pPr>
            <a:r>
              <a:rPr lang="en-US" sz="1300" i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Handoff: Shamanth R to Saiteja Kacham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713978"/>
            <a:ext cx="6296860" cy="1004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ML Detector: Purpose and Approach</a:t>
            </a:r>
            <a:endParaRPr lang="en-US" sz="3150" dirty="0"/>
          </a:p>
        </p:txBody>
      </p:sp>
      <p:sp>
        <p:nvSpPr>
          <p:cNvPr id="4" name="Text 1"/>
          <p:cNvSpPr/>
          <p:nvPr/>
        </p:nvSpPr>
        <p:spPr>
          <a:xfrm>
            <a:off x="5233360" y="2059384"/>
            <a:ext cx="295247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ML Detection Objective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5233360" y="2446933"/>
            <a:ext cx="2952478" cy="2330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Detect suspicious or attacker-like behaviour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Learn from patterns in security-related data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Classify activity as benign or suspicious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Evaluate detector performance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Understand limitations under adversarial conditions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8584092" y="2059384"/>
            <a:ext cx="295247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Why ML?</a:t>
            </a:r>
            <a:endParaRPr lang="en-US" sz="15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84092" y="2463998"/>
            <a:ext cx="401627" cy="40163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56372" y="2463998"/>
            <a:ext cx="238019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Pattern Recognition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9156372" y="2851547"/>
            <a:ext cx="2380198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Can identify patterns beyond static rules</a:t>
            </a:r>
            <a:endParaRPr lang="en-US" sz="12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84092" y="3600053"/>
            <a:ext cx="401627" cy="40163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156372" y="3600053"/>
            <a:ext cx="238019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High-Volume Analysis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9156372" y="3987602"/>
            <a:ext cx="2380198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Helps analyse high-volume signals efficiently</a:t>
            </a:r>
            <a:endParaRPr lang="en-US" sz="12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84092" y="4736108"/>
            <a:ext cx="401627" cy="40163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156372" y="4736108"/>
            <a:ext cx="238019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Careful Validation</a:t>
            </a:r>
            <a:endParaRPr lang="en-US" sz="1550" dirty="0"/>
          </a:p>
        </p:txBody>
      </p:sp>
      <p:sp>
        <p:nvSpPr>
          <p:cNvPr id="15" name="Text 9"/>
          <p:cNvSpPr/>
          <p:nvPr/>
        </p:nvSpPr>
        <p:spPr>
          <a:xfrm>
            <a:off x="9156372" y="5123656"/>
            <a:ext cx="2380198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Requires careful validation and tuning</a:t>
            </a:r>
            <a:endParaRPr lang="en-US" sz="1250" dirty="0"/>
          </a:p>
        </p:txBody>
      </p:sp>
      <p:sp>
        <p:nvSpPr>
          <p:cNvPr id="16" name="Text 10"/>
          <p:cNvSpPr/>
          <p:nvPr/>
        </p:nvSpPr>
        <p:spPr>
          <a:xfrm>
            <a:off x="4928568" y="5906294"/>
            <a:ext cx="6906444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3000"/>
              </a:lnSpc>
              <a:buNone/>
            </a:pPr>
            <a:r>
              <a:rPr lang="en-US" sz="1250" i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Speaker: Saiteja Kacham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65361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ML Evasion and Detection Limitations</a:t>
            </a:r>
            <a:endParaRPr lang="en-US" sz="3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442" y="1829693"/>
            <a:ext cx="6227408" cy="35289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02189" y="1579662"/>
            <a:ext cx="353428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Evasion Testing Focus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8002189" y="1998464"/>
            <a:ext cx="3534282" cy="2282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Understand how attackers may alter behaviour to avoid detection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Test whether small changes reduce detection confidence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Identify blind spots in the detector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Improve model robustness through adversarial testing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Recommend layered detection strategies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8002189" y="4453533"/>
            <a:ext cx="3534282" cy="1136055"/>
          </a:xfrm>
          <a:prstGeom prst="roundRect">
            <a:avLst>
              <a:gd name="adj" fmla="val 2246"/>
            </a:avLst>
          </a:prstGeom>
          <a:solidFill>
            <a:srgbClr val="FCF2B5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2246" y="4695031"/>
            <a:ext cx="212620" cy="17006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554923" y="4633714"/>
            <a:ext cx="2811491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Important Point: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ML should complement security controls, not replace them.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356682" y="5934075"/>
            <a:ext cx="1147833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7000"/>
              </a:lnSpc>
              <a:buNone/>
            </a:pPr>
            <a:r>
              <a:rPr lang="en-US" sz="1300" i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Speaker: Saiteja Kacham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10902"/>
            <a:ext cx="10868745" cy="1122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Risk Summary: Technical Findings to Business Impact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2174379"/>
            <a:ext cx="11478330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Each technical finding maps directly to a business risk. Understanding this chain is essential for prioritising remediation investment.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61475" y="2646363"/>
            <a:ext cx="10868745" cy="3028752"/>
          </a:xfrm>
          <a:prstGeom prst="roundRect">
            <a:avLst>
              <a:gd name="adj" fmla="val 889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1475" y="3153271"/>
            <a:ext cx="10868745" cy="1122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1475" y="3657005"/>
            <a:ext cx="10868745" cy="1122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1475" y="4160738"/>
            <a:ext cx="10868745" cy="1122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1475" y="4664472"/>
            <a:ext cx="10868745" cy="1122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61475" y="5168205"/>
            <a:ext cx="10868745" cy="1122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67924" y="2652713"/>
            <a:ext cx="3799586" cy="500559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1" name="Text 9"/>
          <p:cNvSpPr/>
          <p:nvPr/>
        </p:nvSpPr>
        <p:spPr>
          <a:xfrm>
            <a:off x="847406" y="2761357"/>
            <a:ext cx="4050206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Technical Finding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467510" y="2652713"/>
            <a:ext cx="3799586" cy="500559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4646992" y="2761357"/>
            <a:ext cx="4050206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Business Risk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67096" y="2652713"/>
            <a:ext cx="3256774" cy="500559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8446579" y="2761357"/>
            <a:ext cx="3507394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Impact Level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7406" y="3265091"/>
            <a:ext cx="4050206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Web weakness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46992" y="3265091"/>
            <a:ext cx="4050206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Unauthorised access and data exposure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46579" y="3265091"/>
            <a:ext cx="3507394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High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7406" y="3768824"/>
            <a:ext cx="4050206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Network foothold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646992" y="3768824"/>
            <a:ext cx="4050206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Lateral movement and wider compromise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46579" y="3768824"/>
            <a:ext cx="3507394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High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47406" y="4272558"/>
            <a:ext cx="4050206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Weak segmentation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646992" y="4272558"/>
            <a:ext cx="4050206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Larger blast radius across systems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446579" y="4272558"/>
            <a:ext cx="3507394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High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47406" y="4776291"/>
            <a:ext cx="4050206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Limited logging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646992" y="4776291"/>
            <a:ext cx="4050206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Delayed detection and investigation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446579" y="4776291"/>
            <a:ext cx="3507394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Medium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47406" y="5280025"/>
            <a:ext cx="4050206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ML evasion possibility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646992" y="5280025"/>
            <a:ext cx="4050206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False negatives and missed alerts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446579" y="5280025"/>
            <a:ext cx="3507394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746558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Medium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56682" y="5867003"/>
            <a:ext cx="11478330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Speaker: Madhurjya Deka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5992"/>
            <a:ext cx="10868745" cy="3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Remediation Strategy</a:t>
            </a:r>
            <a:endParaRPr lang="en-US" sz="2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1438" y="2258814"/>
            <a:ext cx="4531207" cy="256768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05949" y="1136154"/>
            <a:ext cx="3630522" cy="170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Recommended Remediation Priorities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7905949" y="1378347"/>
            <a:ext cx="218772" cy="1367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01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7905949" y="1551484"/>
            <a:ext cx="3630522" cy="12700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7" name="Text 4"/>
          <p:cNvSpPr/>
          <p:nvPr/>
        </p:nvSpPr>
        <p:spPr>
          <a:xfrm>
            <a:off x="7905949" y="1631553"/>
            <a:ext cx="3630522" cy="170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Fix Web Application Vulnerabilities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905949" y="1865809"/>
            <a:ext cx="3630522" cy="1382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Address identified weaknesses at the web layer first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905949" y="2149376"/>
            <a:ext cx="218772" cy="1367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02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7905949" y="2322513"/>
            <a:ext cx="3630522" cy="12700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11" name="Text 8"/>
          <p:cNvSpPr/>
          <p:nvPr/>
        </p:nvSpPr>
        <p:spPr>
          <a:xfrm>
            <a:off x="7905949" y="2402582"/>
            <a:ext cx="3630522" cy="170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Strengthen Authentication and Session Controls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905949" y="2636838"/>
            <a:ext cx="3630522" cy="1382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Harden login flows and session management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7905949" y="2920405"/>
            <a:ext cx="218772" cy="1367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03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7905949" y="3093541"/>
            <a:ext cx="3630522" cy="12700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15" name="Text 12"/>
          <p:cNvSpPr/>
          <p:nvPr/>
        </p:nvSpPr>
        <p:spPr>
          <a:xfrm>
            <a:off x="7905949" y="3173611"/>
            <a:ext cx="3630522" cy="170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Apply Least Privilege Across Systems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905949" y="3407866"/>
            <a:ext cx="3630522" cy="1382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Restrict access rights to the minimum required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7905949" y="3691434"/>
            <a:ext cx="218772" cy="1367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04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7905949" y="3864570"/>
            <a:ext cx="3630522" cy="12700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19" name="Text 16"/>
          <p:cNvSpPr/>
          <p:nvPr/>
        </p:nvSpPr>
        <p:spPr>
          <a:xfrm>
            <a:off x="7905949" y="3944640"/>
            <a:ext cx="3630522" cy="170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Enforce Network Segmentation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7905949" y="4178895"/>
            <a:ext cx="3630522" cy="1382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Isolate systems to contain potential compromise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7905949" y="4462463"/>
            <a:ext cx="218772" cy="1367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05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7905949" y="4635599"/>
            <a:ext cx="3630522" cy="12700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23" name="Text 20"/>
          <p:cNvSpPr/>
          <p:nvPr/>
        </p:nvSpPr>
        <p:spPr>
          <a:xfrm>
            <a:off x="7905949" y="4715669"/>
            <a:ext cx="3630522" cy="170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Improve Logging, Alerting, and ML Validation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7905949" y="4949924"/>
            <a:ext cx="3630522" cy="1382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Harden exposed services, expand coverage, and test detection adversarially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7905949" y="5233491"/>
            <a:ext cx="218772" cy="1367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06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7905949" y="5406628"/>
            <a:ext cx="3630522" cy="12700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27" name="Text 24"/>
          <p:cNvSpPr/>
          <p:nvPr/>
        </p:nvSpPr>
        <p:spPr>
          <a:xfrm>
            <a:off x="7905949" y="5486698"/>
            <a:ext cx="3630522" cy="170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Build an Incident Response Playbook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7905949" y="5720953"/>
            <a:ext cx="3630522" cy="1382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Prepare structured response procedures for identified scenarios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356682" y="6083697"/>
            <a:ext cx="11478330" cy="1382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50" i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Speaker: Madhurjya Deka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773311"/>
            <a:ext cx="6296860" cy="944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Business Impact and Value of RedScope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661475" y="2020590"/>
            <a:ext cx="296398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Business Impact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661475" y="2377777"/>
            <a:ext cx="2963987" cy="21282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Reduces likelihood of unauthorised access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Limits blast radius after initial compromise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Improves detection and response readiness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Helps prioritise remediation investment</a:t>
            </a:r>
            <a:endParaRPr lang="en-US" sz="1150" dirty="0"/>
          </a:p>
          <a:p>
            <a:pPr algn="l" marL="233680" indent="-23368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Supports security awareness across technical and business teams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000698" y="2020590"/>
            <a:ext cx="296398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Value of the Project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4000698" y="2392859"/>
            <a:ext cx="19050" cy="870744"/>
          </a:xfrm>
          <a:prstGeom prst="roundRect">
            <a:avLst>
              <a:gd name="adj" fmla="val 59999"/>
            </a:avLst>
          </a:prstGeom>
          <a:solidFill>
            <a:srgbClr val="D3C5B6"/>
          </a:solidFill>
          <a:ln/>
        </p:spPr>
      </p:sp>
      <p:sp>
        <p:nvSpPr>
          <p:cNvPr id="8" name="Text 5"/>
          <p:cNvSpPr/>
          <p:nvPr/>
        </p:nvSpPr>
        <p:spPr>
          <a:xfrm>
            <a:off x="4227506" y="2501702"/>
            <a:ext cx="2737178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RedScope connects offence, detection, and remediation into one practical security lifecycle.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61475" y="4684316"/>
            <a:ext cx="2018257" cy="1046559"/>
          </a:xfrm>
          <a:prstGeom prst="roundRect">
            <a:avLst>
              <a:gd name="adj" fmla="val 2167"/>
            </a:avLst>
          </a:prstGeom>
          <a:solidFill>
            <a:srgbClr val="EEE8DD"/>
          </a:solidFill>
          <a:ln/>
        </p:spPr>
      </p:sp>
      <p:sp>
        <p:nvSpPr>
          <p:cNvPr id="10" name="Text 7"/>
          <p:cNvSpPr/>
          <p:nvPr/>
        </p:nvSpPr>
        <p:spPr>
          <a:xfrm>
            <a:off x="812680" y="4835525"/>
            <a:ext cx="1715846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Offence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12680" y="5144294"/>
            <a:ext cx="1715846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Realistic attack simulation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2800677" y="4684316"/>
            <a:ext cx="2018357" cy="1046559"/>
          </a:xfrm>
          <a:prstGeom prst="roundRect">
            <a:avLst>
              <a:gd name="adj" fmla="val 2167"/>
            </a:avLst>
          </a:prstGeom>
          <a:solidFill>
            <a:srgbClr val="EEE8DD"/>
          </a:solidFill>
          <a:ln/>
        </p:spPr>
      </p:sp>
      <p:sp>
        <p:nvSpPr>
          <p:cNvPr id="13" name="Text 10"/>
          <p:cNvSpPr/>
          <p:nvPr/>
        </p:nvSpPr>
        <p:spPr>
          <a:xfrm>
            <a:off x="2951882" y="4835525"/>
            <a:ext cx="1715945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Detection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2951882" y="5144294"/>
            <a:ext cx="1715945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ML-aware validation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939978" y="4684316"/>
            <a:ext cx="2018257" cy="1046559"/>
          </a:xfrm>
          <a:prstGeom prst="roundRect">
            <a:avLst>
              <a:gd name="adj" fmla="val 2167"/>
            </a:avLst>
          </a:prstGeom>
          <a:solidFill>
            <a:srgbClr val="EEE8DD"/>
          </a:solidFill>
          <a:ln/>
        </p:spPr>
      </p:sp>
      <p:sp>
        <p:nvSpPr>
          <p:cNvPr id="16" name="Text 13"/>
          <p:cNvSpPr/>
          <p:nvPr/>
        </p:nvSpPr>
        <p:spPr>
          <a:xfrm>
            <a:off x="5091184" y="4835525"/>
            <a:ext cx="1715846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Remediation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5091184" y="5144294"/>
            <a:ext cx="1715846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Business-aligned priorities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356682" y="5866904"/>
            <a:ext cx="6906444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Speaker: Madhurjya Deka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5129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Key Takeaways</a:t>
            </a:r>
            <a:endParaRPr lang="en-US" sz="2950" dirty="0"/>
          </a:p>
        </p:txBody>
      </p:sp>
      <p:sp>
        <p:nvSpPr>
          <p:cNvPr id="3" name="Shape 1"/>
          <p:cNvSpPr/>
          <p:nvPr/>
        </p:nvSpPr>
        <p:spPr>
          <a:xfrm>
            <a:off x="661475" y="1269504"/>
            <a:ext cx="340213" cy="340221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</p:sp>
      <p:sp>
        <p:nvSpPr>
          <p:cNvPr id="4" name="Text 2"/>
          <p:cNvSpPr/>
          <p:nvPr/>
        </p:nvSpPr>
        <p:spPr>
          <a:xfrm>
            <a:off x="718127" y="1297831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1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1122632" y="1321395"/>
            <a:ext cx="10407588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Safe, Lab-Only Assessment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122632" y="1630164"/>
            <a:ext cx="10407588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RedScope is a controlled, integrated security assessment conducted entirely within a lab environment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61475" y="2089745"/>
            <a:ext cx="340213" cy="340221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</p:sp>
      <p:sp>
        <p:nvSpPr>
          <p:cNvPr id="8" name="Text 6"/>
          <p:cNvSpPr/>
          <p:nvPr/>
        </p:nvSpPr>
        <p:spPr>
          <a:xfrm>
            <a:off x="718127" y="2118072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2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122632" y="2141637"/>
            <a:ext cx="10407588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Web Weaknesses as Entry Points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122632" y="2450405"/>
            <a:ext cx="10407588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Web vulnerabilities can become the starting point for broader, chained compromise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61475" y="2909987"/>
            <a:ext cx="340213" cy="340221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</p:sp>
      <p:sp>
        <p:nvSpPr>
          <p:cNvPr id="12" name="Text 10"/>
          <p:cNvSpPr/>
          <p:nvPr/>
        </p:nvSpPr>
        <p:spPr>
          <a:xfrm>
            <a:off x="718127" y="2938314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3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1122632" y="2961878"/>
            <a:ext cx="10407588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Segmentation and Least Privilege Are Critical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122632" y="3270647"/>
            <a:ext cx="10407588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These two controls are the most effective at limiting attacker movement post-access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61475" y="3730228"/>
            <a:ext cx="340213" cy="340221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</p:sp>
      <p:sp>
        <p:nvSpPr>
          <p:cNvPr id="16" name="Text 14"/>
          <p:cNvSpPr/>
          <p:nvPr/>
        </p:nvSpPr>
        <p:spPr>
          <a:xfrm>
            <a:off x="718127" y="3758555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4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1122632" y="3782120"/>
            <a:ext cx="10407588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ML Detection Must Be Validated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122632" y="4090888"/>
            <a:ext cx="10407588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ML is useful but must be tested against evasion to understand its real-world limits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61475" y="4550470"/>
            <a:ext cx="340213" cy="340221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</p:sp>
      <p:sp>
        <p:nvSpPr>
          <p:cNvPr id="20" name="Text 18"/>
          <p:cNvSpPr/>
          <p:nvPr/>
        </p:nvSpPr>
        <p:spPr>
          <a:xfrm>
            <a:off x="718127" y="4578796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5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1122632" y="4602361"/>
            <a:ext cx="10407588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Remediation by Business Impact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122632" y="4911130"/>
            <a:ext cx="10407588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Prioritise fixes based on the business risk each finding represents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61475" y="5370711"/>
            <a:ext cx="340213" cy="340221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</p:sp>
      <p:sp>
        <p:nvSpPr>
          <p:cNvPr id="24" name="Text 22"/>
          <p:cNvSpPr/>
          <p:nvPr/>
        </p:nvSpPr>
        <p:spPr>
          <a:xfrm>
            <a:off x="718127" y="5399038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6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1122632" y="5422602"/>
            <a:ext cx="10407588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Prevention + Detection + Response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1122632" y="5731371"/>
            <a:ext cx="10407588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Security is strongest when all three pillars work together in an integrated lifecycle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56682" y="6085086"/>
            <a:ext cx="1147833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Speaker: Shamanth R Singh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88280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Thank You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1449487"/>
            <a:ext cx="10868745" cy="733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46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Questions?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61475" y="2412603"/>
            <a:ext cx="10868745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Suggested Q&amp;A Areas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661475" y="2907903"/>
            <a:ext cx="3520788" cy="1252835"/>
          </a:xfrm>
          <a:prstGeom prst="roundRect">
            <a:avLst>
              <a:gd name="adj" fmla="val 2037"/>
            </a:avLst>
          </a:prstGeom>
          <a:solidFill>
            <a:srgbClr val="F9F6F0"/>
          </a:solidFill>
          <a:ln w="19050">
            <a:solidFill>
              <a:srgbClr val="D4CEC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581" y="3097014"/>
            <a:ext cx="3142576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Lab-Only Rationale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50581" y="3454499"/>
            <a:ext cx="3142576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Why was the project conducted in a lab-only environment?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35354" y="2907903"/>
            <a:ext cx="3520888" cy="1252835"/>
          </a:xfrm>
          <a:prstGeom prst="roundRect">
            <a:avLst>
              <a:gd name="adj" fmla="val 2037"/>
            </a:avLst>
          </a:prstGeom>
          <a:solidFill>
            <a:srgbClr val="F9F6F0"/>
          </a:solidFill>
          <a:ln w="19050">
            <a:solidFill>
              <a:srgbClr val="D4CEC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4460" y="3097014"/>
            <a:ext cx="3142675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Scope Control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4524460" y="3454499"/>
            <a:ext cx="3142675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How was scope defined and controlled throughout the assessment?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09332" y="2907903"/>
            <a:ext cx="3520888" cy="1252835"/>
          </a:xfrm>
          <a:prstGeom prst="roundRect">
            <a:avLst>
              <a:gd name="adj" fmla="val 2037"/>
            </a:avLst>
          </a:prstGeom>
          <a:solidFill>
            <a:srgbClr val="F9F6F0"/>
          </a:solidFill>
          <a:ln w="19050">
            <a:solidFill>
              <a:srgbClr val="D4CEC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98439" y="3097014"/>
            <a:ext cx="3142675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ML Inclusion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8198439" y="3454499"/>
            <a:ext cx="3142675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Why include ML detection in a red-team assessment?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61475" y="4313833"/>
            <a:ext cx="5357778" cy="994271"/>
          </a:xfrm>
          <a:prstGeom prst="roundRect">
            <a:avLst>
              <a:gd name="adj" fmla="val 2566"/>
            </a:avLst>
          </a:prstGeom>
          <a:solidFill>
            <a:srgbClr val="F9F6F0"/>
          </a:solidFill>
          <a:ln w="19050">
            <a:solidFill>
              <a:srgbClr val="D4CEC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581" y="4502944"/>
            <a:ext cx="4979565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Remediation Priorities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850581" y="4860429"/>
            <a:ext cx="4979565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What were the main remediation priorities identified?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72343" y="4313833"/>
            <a:ext cx="5357877" cy="994271"/>
          </a:xfrm>
          <a:prstGeom prst="roundRect">
            <a:avLst>
              <a:gd name="adj" fmla="val 2566"/>
            </a:avLst>
          </a:prstGeom>
          <a:solidFill>
            <a:srgbClr val="F9F6F0"/>
          </a:solidFill>
          <a:ln w="19050">
            <a:solidFill>
              <a:srgbClr val="D4CEC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61449" y="4502944"/>
            <a:ext cx="4979664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Enterprise Applicability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361449" y="4860429"/>
            <a:ext cx="4979664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How can this model apply to real enterprise environments?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56682" y="5480348"/>
            <a:ext cx="1147833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7000"/>
              </a:lnSpc>
              <a:buNone/>
            </a:pPr>
            <a:r>
              <a:rPr lang="en-US" sz="1300" i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Speaker: Shamanth R Singh — with all team members answering their respective sections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136127" y="5911155"/>
            <a:ext cx="1603434" cy="258465"/>
          </a:xfrm>
          <a:prstGeom prst="roundRect">
            <a:avLst>
              <a:gd name="adj" fmla="val 7898"/>
            </a:avLst>
          </a:prstGeom>
          <a:noFill/>
          <a:ln w="6350">
            <a:solidFill>
              <a:srgbClr val="D3C5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38121" y="5962154"/>
            <a:ext cx="2009030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D3C5B6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SHAMANTH R SINGH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24589" y="5911155"/>
            <a:ext cx="1180376" cy="258465"/>
          </a:xfrm>
          <a:prstGeom prst="roundRect">
            <a:avLst>
              <a:gd name="adj" fmla="val 7898"/>
            </a:avLst>
          </a:prstGeom>
          <a:noFill/>
          <a:ln w="6350">
            <a:solidFill>
              <a:srgbClr val="D3C5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26584" y="5962154"/>
            <a:ext cx="1585972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D3C5B6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AJITH MOHAN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89994" y="5911155"/>
            <a:ext cx="1393393" cy="258465"/>
          </a:xfrm>
          <a:prstGeom prst="roundRect">
            <a:avLst>
              <a:gd name="adj" fmla="val 7898"/>
            </a:avLst>
          </a:prstGeom>
          <a:noFill/>
          <a:ln w="6350">
            <a:solidFill>
              <a:srgbClr val="D3C5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91988" y="5962154"/>
            <a:ext cx="1798989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D3C5B6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SAITEJA KACHAM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568415" y="5911155"/>
            <a:ext cx="1487153" cy="258465"/>
          </a:xfrm>
          <a:prstGeom prst="roundRect">
            <a:avLst>
              <a:gd name="adj" fmla="val 7898"/>
            </a:avLst>
          </a:prstGeom>
          <a:noFill/>
          <a:ln w="6350">
            <a:solidFill>
              <a:srgbClr val="D3C5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70410" y="5962154"/>
            <a:ext cx="1892749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D3C5B6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MADHURJYA DEKA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2026-07-24T18:13:25Z</dcterms:created>
  <dcterms:modified xsi:type="dcterms:W3CDTF">2026-07-24T18:13:25Z</dcterms:modified>
</cp:coreProperties>
</file>