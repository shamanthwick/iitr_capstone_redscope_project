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embeddedFontLst>
    <p:embeddedFont>
      <p:font typeface="Gelasio"/>
      <p:regular r:id="rId201314"/>
    </p:embeddedFont>
    <p:embeddedFont>
      <p:font typeface="Gelasio SemiBold"/>
      <p:regular r:id="rId201315"/>
    </p:embeddedFont>
    <p:embeddedFont>
      <p:font typeface="Gelasio Bold"/>
      <p:regular r:id="rId201316"/>
    </p:embeddedFont>
    <p:embeddedFont>
      <p:font typeface="Gelasio Medium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Relationship Id="rId201320" Target="fonts/201320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6F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1.png"/><Relationship Id="rId4" Type="http://schemas.openxmlformats.org/officeDocument/2006/relationships/image" Target="../media/image-15-2.svg"/><Relationship Id="rId5" Type="http://schemas.openxmlformats.org/officeDocument/2006/relationships/image" Target="../media/image-15-1.png"/><Relationship Id="rId6" Type="http://schemas.openxmlformats.org/officeDocument/2006/relationships/image" Target="../media/image-15-2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637381"/>
            <a:ext cx="6296860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RedScope Capstone Project</a:t>
            </a:r>
            <a:endParaRPr lang="en-US" sz="3150" dirty="0"/>
          </a:p>
        </p:txBody>
      </p:sp>
      <p:sp>
        <p:nvSpPr>
          <p:cNvPr id="4" name="Text 1"/>
          <p:cNvSpPr/>
          <p:nvPr/>
        </p:nvSpPr>
        <p:spPr>
          <a:xfrm>
            <a:off x="5233360" y="1344216"/>
            <a:ext cx="629686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Lab-only red-team assessment with detection, evasion validation, remediation, and business-impact mapping</a:t>
            </a:r>
            <a:endParaRPr lang="en-US" sz="12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360" y="1973263"/>
            <a:ext cx="803255" cy="96400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173137" y="2133898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Web</a:t>
            </a:r>
            <a:endParaRPr lang="en-US" sz="15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3360" y="2937272"/>
            <a:ext cx="803255" cy="96400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173137" y="3097907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Network</a:t>
            </a:r>
            <a:endParaRPr lang="en-US" sz="15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3360" y="3901281"/>
            <a:ext cx="803255" cy="964009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173137" y="4061916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Detection</a:t>
            </a:r>
            <a:endParaRPr lang="en-US" sz="15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3360" y="4865291"/>
            <a:ext cx="803255" cy="964009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173137" y="5025926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Remediation</a:t>
            </a:r>
            <a:endParaRPr lang="en-US" sz="1550" dirty="0"/>
          </a:p>
        </p:txBody>
      </p:sp>
      <p:sp>
        <p:nvSpPr>
          <p:cNvPr id="13" name="Text 6"/>
          <p:cNvSpPr/>
          <p:nvPr/>
        </p:nvSpPr>
        <p:spPr>
          <a:xfrm>
            <a:off x="5233360" y="5982891"/>
            <a:ext cx="69064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Shamanth R Singh  |  Ajith Mohan  |  Saiteja Kacham  |  Madhurjya Deka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40358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One Assessment Connected the Full Security Lifecycle</a:t>
            </a:r>
            <a:endParaRPr lang="en-US" sz="3150" dirty="0"/>
          </a:p>
        </p:txBody>
      </p:sp>
      <p:sp>
        <p:nvSpPr>
          <p:cNvPr id="4" name="Text 1"/>
          <p:cNvSpPr/>
          <p:nvPr/>
        </p:nvSpPr>
        <p:spPr>
          <a:xfrm>
            <a:off x="661475" y="1849239"/>
            <a:ext cx="69064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Security weaknesses become more serious when they interact across layers.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661475" y="2240558"/>
            <a:ext cx="6296860" cy="891877"/>
          </a:xfrm>
          <a:prstGeom prst="roundRect">
            <a:avLst>
              <a:gd name="adj" fmla="val 2702"/>
            </a:avLst>
          </a:prstGeom>
          <a:solidFill>
            <a:srgbClr val="EEE8DD"/>
          </a:solidFill>
          <a:ln/>
        </p:spPr>
      </p:sp>
      <p:sp>
        <p:nvSpPr>
          <p:cNvPr id="6" name="Text 3"/>
          <p:cNvSpPr/>
          <p:nvPr/>
        </p:nvSpPr>
        <p:spPr>
          <a:xfrm>
            <a:off x="822106" y="2401193"/>
            <a:ext cx="597559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Simulate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22106" y="2734072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Realistic attacker path in a safe, controlled laboratory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61475" y="3268960"/>
            <a:ext cx="6296860" cy="891877"/>
          </a:xfrm>
          <a:prstGeom prst="roundRect">
            <a:avLst>
              <a:gd name="adj" fmla="val 2702"/>
            </a:avLst>
          </a:prstGeom>
          <a:solidFill>
            <a:srgbClr val="EEE8DD"/>
          </a:solidFill>
          <a:ln/>
        </p:spPr>
      </p:sp>
      <p:sp>
        <p:nvSpPr>
          <p:cNvPr id="9" name="Text 6"/>
          <p:cNvSpPr/>
          <p:nvPr/>
        </p:nvSpPr>
        <p:spPr>
          <a:xfrm>
            <a:off x="822106" y="3429595"/>
            <a:ext cx="597559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Chain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22106" y="3762474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Identify how web and network weaknesses interact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1475" y="4297363"/>
            <a:ext cx="6296860" cy="891877"/>
          </a:xfrm>
          <a:prstGeom prst="roundRect">
            <a:avLst>
              <a:gd name="adj" fmla="val 2702"/>
            </a:avLst>
          </a:prstGeom>
          <a:solidFill>
            <a:srgbClr val="EEE8DD"/>
          </a:solidFill>
          <a:ln/>
        </p:spPr>
      </p:sp>
      <p:sp>
        <p:nvSpPr>
          <p:cNvPr id="12" name="Text 9"/>
          <p:cNvSpPr/>
          <p:nvPr/>
        </p:nvSpPr>
        <p:spPr>
          <a:xfrm>
            <a:off x="822106" y="4457998"/>
            <a:ext cx="597559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Validate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822106" y="4790877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Test detection logic and ML detector against modified payloads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1475" y="5325765"/>
            <a:ext cx="6296860" cy="891877"/>
          </a:xfrm>
          <a:prstGeom prst="roundRect">
            <a:avLst>
              <a:gd name="adj" fmla="val 2702"/>
            </a:avLst>
          </a:prstGeom>
          <a:solidFill>
            <a:srgbClr val="EEE8DD"/>
          </a:solidFill>
          <a:ln/>
        </p:spPr>
      </p:sp>
      <p:sp>
        <p:nvSpPr>
          <p:cNvPr id="15" name="Text 12"/>
          <p:cNvSpPr/>
          <p:nvPr/>
        </p:nvSpPr>
        <p:spPr>
          <a:xfrm>
            <a:off x="822106" y="5486400"/>
            <a:ext cx="597559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Translate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822106" y="5819279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Map technical findings to remediation and business risk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2924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Authorization and Safety Defined Every Test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397919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Responsible cybersecurity testing requires authorization, clear boundaries, documentation, and repeatability.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25350" y="2912963"/>
            <a:ext cx="5476043" cy="2515791"/>
          </a:xfrm>
          <a:prstGeom prst="roundRect">
            <a:avLst>
              <a:gd name="adj" fmla="val 1127"/>
            </a:avLst>
          </a:prstGeom>
          <a:solidFill>
            <a:srgbClr val="D3C5B6"/>
          </a:solidFill>
          <a:ln/>
        </p:spPr>
      </p:sp>
      <p:sp>
        <p:nvSpPr>
          <p:cNvPr id="5" name="Text 3"/>
          <p:cNvSpPr/>
          <p:nvPr/>
        </p:nvSpPr>
        <p:spPr>
          <a:xfrm>
            <a:off x="714357" y="3101975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In Scope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14357" y="3586262"/>
            <a:ext cx="5098029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DVWA, OWASP Juice Shop, and Metasploitable 2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Web and network reconnaissance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Controlled exploitation and limited post-exploitation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ML detector and evasion experiments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Evidence collection, risk analysis, and remediation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332776" y="3101975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Out of Scope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332776" y="3586262"/>
            <a:ext cx="5203794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Public or unauthorized systems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Denial-of-service activity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Real data exfiltration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Credential abuse outside the lab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Destructive actions or persistence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1897"/>
            <a:ext cx="10868745" cy="1104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The Lab Recreated a Small Enterprise Attack Surface</a:t>
            </a:r>
            <a:endParaRPr lang="en-US" sz="3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10" y="2258020"/>
            <a:ext cx="6567919" cy="369450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12706" y="2089845"/>
            <a:ext cx="3523765" cy="2761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Lab Architecture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012706" y="2531269"/>
            <a:ext cx="3523765" cy="2089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Attacker:</a:t>
            </a:r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Kali Linux VM</a:t>
            </a:r>
            <a:endParaRPr lang="en-US" sz="1350" dirty="0"/>
          </a:p>
          <a:p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DVWA:</a:t>
            </a:r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192.169.1.29:8080 (Kali) / localhost:8080 (host)</a:t>
            </a:r>
            <a:endParaRPr lang="en-US" sz="1350" dirty="0"/>
          </a:p>
          <a:p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Juice Shop:</a:t>
            </a:r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192.169.1.29:3000 (Kali) / localhost:3000 (host)</a:t>
            </a:r>
            <a:endParaRPr lang="en-US" sz="1350" dirty="0"/>
          </a:p>
          <a:p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Network target:</a:t>
            </a:r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Metasploitable 2 at 10.77.0.3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8012706" y="4769048"/>
            <a:ext cx="3523765" cy="136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Docker hosted the web applications. VirtualBox hosted the attacker VM and vulnerable network target. All activity remained inside the controlled lab environment.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6942"/>
            <a:ext cx="10868745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The Team Followed a Reproducible Red-Team Method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2080419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Every finding was connected to evidence, impact, and corrective action.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61475" y="2552402"/>
            <a:ext cx="359064" cy="2244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1475" y="2832100"/>
            <a:ext cx="3509180" cy="25400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2972594"/>
            <a:ext cx="350918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Planning and Rules of Engagement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4341208" y="2552402"/>
            <a:ext cx="359064" cy="2244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1208" y="2832100"/>
            <a:ext cx="3509180" cy="25400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9" name="Text 7"/>
          <p:cNvSpPr/>
          <p:nvPr/>
        </p:nvSpPr>
        <p:spPr>
          <a:xfrm>
            <a:off x="4341208" y="2972594"/>
            <a:ext cx="350918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Lab Setup and Validation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8020941" y="2552402"/>
            <a:ext cx="359064" cy="2244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20941" y="2832100"/>
            <a:ext cx="3509180" cy="25400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12" name="Text 10"/>
          <p:cNvSpPr/>
          <p:nvPr/>
        </p:nvSpPr>
        <p:spPr>
          <a:xfrm>
            <a:off x="8020941" y="2972594"/>
            <a:ext cx="350918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Reconnaissance and Service Discovery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661475" y="3838773"/>
            <a:ext cx="359064" cy="2244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1475" y="4118471"/>
            <a:ext cx="3509180" cy="25400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15" name="Text 13"/>
          <p:cNvSpPr/>
          <p:nvPr/>
        </p:nvSpPr>
        <p:spPr>
          <a:xfrm>
            <a:off x="661475" y="4258965"/>
            <a:ext cx="350918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Vulnerability Analysis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4341208" y="3838773"/>
            <a:ext cx="359064" cy="2244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41208" y="4118471"/>
            <a:ext cx="3509180" cy="25400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341208" y="4258965"/>
            <a:ext cx="350918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Controlled Web and Network Exploitation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020941" y="3838773"/>
            <a:ext cx="359064" cy="2244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20941" y="4118471"/>
            <a:ext cx="3509180" cy="25400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21" name="Text 19"/>
          <p:cNvSpPr/>
          <p:nvPr/>
        </p:nvSpPr>
        <p:spPr>
          <a:xfrm>
            <a:off x="8020941" y="4258965"/>
            <a:ext cx="350918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Limited Post-Exploitation Observation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661475" y="5125145"/>
            <a:ext cx="359064" cy="2244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61475" y="5404842"/>
            <a:ext cx="3509180" cy="25400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24" name="Text 22"/>
          <p:cNvSpPr/>
          <p:nvPr/>
        </p:nvSpPr>
        <p:spPr>
          <a:xfrm>
            <a:off x="661475" y="5545336"/>
            <a:ext cx="350918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ML Detector Training and Evaluation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4341208" y="5125145"/>
            <a:ext cx="359064" cy="2244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41208" y="5404842"/>
            <a:ext cx="3509180" cy="25400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1208" y="5545336"/>
            <a:ext cx="350918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Evasion Testing and Defender Comparison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8020941" y="5125145"/>
            <a:ext cx="359064" cy="2244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20941" y="5404842"/>
            <a:ext cx="3509180" cy="25400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30" name="Text 28"/>
          <p:cNvSpPr/>
          <p:nvPr/>
        </p:nvSpPr>
        <p:spPr>
          <a:xfrm>
            <a:off x="8020941" y="5545336"/>
            <a:ext cx="350918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Risk-Based Remediation and Reporting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65981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Reconnaissance Revealed a Broad Legacy Attack Surface</a:t>
            </a:r>
            <a:endParaRPr lang="en-US" sz="29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655862"/>
            <a:ext cx="4199924" cy="42000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86640" y="2857897"/>
            <a:ext cx="524993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Key Exposures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6286640" y="3215084"/>
            <a:ext cx="5249930" cy="1517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FTP, Telnet, SMB, RPC/NFS, HTTP, and a bind-shell service were exposed</a:t>
            </a:r>
            <a:endParaRPr lang="en-US" sz="1150" dirty="0"/>
          </a:p>
          <a:p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Anonymous FTP access was permitted</a:t>
            </a:r>
            <a:endParaRPr lang="en-US" sz="1150" dirty="0"/>
          </a:p>
          <a:p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Telnet transmitted credentials in cleartext</a:t>
            </a:r>
            <a:endParaRPr lang="en-US" sz="1150" dirty="0"/>
          </a:p>
          <a:p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SMB message signing was disabled</a:t>
            </a:r>
            <a:endParaRPr lang="en-US" sz="1150" dirty="0"/>
          </a:p>
          <a:p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DVWA operated in low-security mode</a:t>
            </a:r>
            <a:endParaRPr lang="en-US" sz="1150" dirty="0"/>
          </a:p>
          <a:p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Juice Shop exposed challenge, API, and file-directory paths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35496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Ten Findings Created a Clear Risk Hierarchy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349871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The highest priorities were immediate root access, exploitable web input, and unnecessary legacy services.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61475" y="1703586"/>
            <a:ext cx="10868745" cy="2186583"/>
          </a:xfrm>
          <a:prstGeom prst="roundRect">
            <a:avLst>
              <a:gd name="adj" fmla="val 1037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1475" y="2088555"/>
            <a:ext cx="10868745" cy="94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61475" y="2470348"/>
            <a:ext cx="10868745" cy="94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61475" y="3069828"/>
            <a:ext cx="10868745" cy="94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69015" y="1709936"/>
            <a:ext cx="3617921" cy="378619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9" name="Text 7"/>
          <p:cNvSpPr/>
          <p:nvPr/>
        </p:nvSpPr>
        <p:spPr>
          <a:xfrm>
            <a:off x="820221" y="1788815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Severity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86937" y="1709936"/>
            <a:ext cx="3617921" cy="378619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11" name="Text 9"/>
          <p:cNvSpPr/>
          <p:nvPr/>
        </p:nvSpPr>
        <p:spPr>
          <a:xfrm>
            <a:off x="4438142" y="1788815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Count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04858" y="1709936"/>
            <a:ext cx="3617921" cy="378619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13" name="Text 11"/>
          <p:cNvSpPr/>
          <p:nvPr/>
        </p:nvSpPr>
        <p:spPr>
          <a:xfrm>
            <a:off x="8056063" y="1788815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Representative Findings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0221" y="2170609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CC2200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Critical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438142" y="2170609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056063" y="2170609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Unauthenticated root bind shell on TCP 1524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0221" y="2552402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CC6600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High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438142" y="2552402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56063" y="2552402"/>
            <a:ext cx="3315510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Legacy remote services, legacy web paths, and DVWA SQL injection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20221" y="3151882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AA8800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Medium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438142" y="3151882"/>
            <a:ext cx="3925095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6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56063" y="3151882"/>
            <a:ext cx="3315510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Anonymous FTP, cleartext Telnet, unsigned SMB, exposed NFS/RPC, Juice Shop routes, and exposed files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97342" y="4101802"/>
            <a:ext cx="4286937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9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1</a:t>
            </a:r>
            <a:endParaRPr lang="en-US" sz="3900" dirty="0"/>
          </a:p>
        </p:txBody>
      </p:sp>
      <p:sp>
        <p:nvSpPr>
          <p:cNvPr id="24" name="Text 22"/>
          <p:cNvSpPr/>
          <p:nvPr/>
        </p:nvSpPr>
        <p:spPr>
          <a:xfrm>
            <a:off x="661475" y="4767163"/>
            <a:ext cx="535877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CC2200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Critical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707317" y="4101802"/>
            <a:ext cx="4286937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9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3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6171450" y="4767163"/>
            <a:ext cx="535877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CC6600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High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97342" y="5320903"/>
            <a:ext cx="4286937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9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6</a:t>
            </a:r>
            <a:endParaRPr lang="en-US" sz="3900" dirty="0"/>
          </a:p>
        </p:txBody>
      </p:sp>
      <p:sp>
        <p:nvSpPr>
          <p:cNvPr id="28" name="Text 26"/>
          <p:cNvSpPr/>
          <p:nvPr/>
        </p:nvSpPr>
        <p:spPr>
          <a:xfrm>
            <a:off x="661475" y="5986264"/>
            <a:ext cx="535877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AA8800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Medium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707317" y="5320903"/>
            <a:ext cx="4286937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9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10</a:t>
            </a:r>
            <a:endParaRPr lang="en-US" sz="3900" dirty="0"/>
          </a:p>
        </p:txBody>
      </p:sp>
      <p:sp>
        <p:nvSpPr>
          <p:cNvPr id="30" name="Text 28"/>
          <p:cNvSpPr/>
          <p:nvPr/>
        </p:nvSpPr>
        <p:spPr>
          <a:xfrm>
            <a:off x="6171450" y="5986264"/>
            <a:ext cx="535877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Total Findings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4560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DVWA SQL Injection Exposed Weak Input Handling</a:t>
            </a:r>
            <a:endParaRPr lang="en-US" sz="31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070" y="2126258"/>
            <a:ext cx="5888287" cy="33122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7207" y="1927920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Finding Detail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7987207" y="2315468"/>
            <a:ext cx="3549264" cy="1874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Target: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DVWA in low-security mode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Test input: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1' OR '1'='1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Application returned multiple database rows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User input successfully altered the SQL query structure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Impact: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Unauthorized data access, authentication bypass, or data manipulation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987207" y="4343102"/>
            <a:ext cx="3549264" cy="1276747"/>
          </a:xfrm>
          <a:prstGeom prst="roundRect">
            <a:avLst>
              <a:gd name="adj" fmla="val 1888"/>
            </a:avLst>
          </a:prstGeom>
          <a:solidFill>
            <a:srgbClr val="ECE6D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7838" y="4561979"/>
            <a:ext cx="200814" cy="16063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9283" y="4506020"/>
            <a:ext cx="2866556" cy="950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Remediation: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Use parameterized queries, server-side validation, least-privilege database accounts, and enforce secure production settings.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27968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Juice Shop Exposed Files Through Directory Listing</a:t>
            </a:r>
            <a:endParaRPr lang="en-US" sz="31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070" y="2126258"/>
            <a:ext cx="5888287" cy="33122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7207" y="1571327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Finding Detail — </a:t>
            </a:r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AA8800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Medium Severity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7987207" y="1958876"/>
            <a:ext cx="3549264" cy="2587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Target: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Juice Shop 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/ftp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directory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Directory contents were browsable without intended authorization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Exposed items included legal documents, acquisition information, encrypted announcements, and KeePass-related files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Demonstrated insecure content hosting and weak access control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Exposed documents could support reconnaissance and follow-on attacks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987207" y="4699695"/>
            <a:ext cx="3549264" cy="1276747"/>
          </a:xfrm>
          <a:prstGeom prst="roundRect">
            <a:avLst>
              <a:gd name="adj" fmla="val 1888"/>
            </a:avLst>
          </a:prstGeom>
          <a:solidFill>
            <a:srgbClr val="ECE6D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7838" y="4918571"/>
            <a:ext cx="200814" cy="16063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9283" y="4862612"/>
            <a:ext cx="2866556" cy="950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Remediation: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Disable directory listing, remove unnecessary deployment files, restrict sensitive documents, and enforce authorization checks.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651669"/>
            <a:ext cx="6296860" cy="150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An Exposed Bind Shell Provided Immediate Root Access</a:t>
            </a:r>
            <a:endParaRPr lang="en-US" sz="3150" dirty="0"/>
          </a:p>
        </p:txBody>
      </p:sp>
      <p:sp>
        <p:nvSpPr>
          <p:cNvPr id="4" name="Shape 1"/>
          <p:cNvSpPr/>
          <p:nvPr/>
        </p:nvSpPr>
        <p:spPr>
          <a:xfrm>
            <a:off x="5233360" y="2362597"/>
            <a:ext cx="1576844" cy="250329"/>
          </a:xfrm>
          <a:prstGeom prst="roundRect">
            <a:avLst>
              <a:gd name="adj" fmla="val 7702"/>
            </a:avLst>
          </a:prstGeom>
          <a:solidFill>
            <a:srgbClr val="ECE6DF"/>
          </a:solidFill>
          <a:ln/>
        </p:spPr>
      </p:sp>
      <p:sp>
        <p:nvSpPr>
          <p:cNvPr id="5" name="Text 2"/>
          <p:cNvSpPr/>
          <p:nvPr/>
        </p:nvSpPr>
        <p:spPr>
          <a:xfrm>
            <a:off x="5329699" y="2410718"/>
            <a:ext cx="1993751" cy="1540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⚠</a:t>
            </a:r>
            <a:pPr algn="l" indent="0" marL="0">
              <a:lnSpc>
                <a:spcPct val="960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CRITICAL FINDING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233360" y="2903041"/>
            <a:ext cx="295247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Attack Path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233360" y="3290590"/>
            <a:ext cx="2952478" cy="1864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Target: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10.77.0.3:1524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Service accepted an unauthenticated 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netcat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connection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The 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command returned </a:t>
            </a:r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uid=0(root)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No password, credential theft, or exploit chain required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84092" y="2903041"/>
            <a:ext cx="295247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Business Impact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584092" y="3290590"/>
            <a:ext cx="2952478" cy="1094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Complete system compromise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Service disruption risk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Full data exposure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Possible path to lateral movement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584092" y="4538266"/>
            <a:ext cx="2952478" cy="1514475"/>
          </a:xfrm>
          <a:prstGeom prst="roundRect">
            <a:avLst>
              <a:gd name="adj" fmla="val 1591"/>
            </a:avLst>
          </a:prstGeom>
          <a:solidFill>
            <a:srgbClr val="ECE6D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4723" y="4757142"/>
            <a:ext cx="200814" cy="160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06168" y="4701183"/>
            <a:ext cx="2269771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Remediation: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Isolate the host, remove the service, block the port, investigate thoroughly, and rebuild from a trusted image.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7033"/>
            <a:ext cx="10868745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Post-Exploitation Testing Measured Impact Without Persistence</a:t>
            </a:r>
            <a:endParaRPr lang="en-US" sz="31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070" y="2377281"/>
            <a:ext cx="5888287" cy="33122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7207" y="2052439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What Was Observed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7987207" y="2439988"/>
            <a:ext cx="3549264" cy="1854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Confirmed user and privilege context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Recorded hostname, kernel, and OS details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Reviewed network configuration and interfaces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Did not install persistence mechanisms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Did not perform destructive actions or real data movement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987207" y="4431506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Defensive Lessons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987207" y="4819055"/>
            <a:ext cx="3549264" cy="12840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Segment vulnerable systems and enforce least privilege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Monitor unusual service access and privileged sessions</a:t>
            </a:r>
            <a:endParaRPr lang="en-US" sz="1250" dirty="0"/>
          </a:p>
          <a:p>
            <a:pPr algn="l" marL="254000" indent="-254000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Respond quickly to any root-level activity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37877"/>
            <a:ext cx="10868745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MITRE ATT&amp;CK Connected Actions to Defender Visibility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2101354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Technique mapping helps defenders convert offensive evidence into logging, monitoring, and detection requirements.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1475" y="2573337"/>
            <a:ext cx="10868745" cy="3646785"/>
          </a:xfrm>
          <a:prstGeom prst="roundRect">
            <a:avLst>
              <a:gd name="adj" fmla="val 739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1475" y="3080246"/>
            <a:ext cx="10868745" cy="1122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61475" y="3603030"/>
            <a:ext cx="10868745" cy="1122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61475" y="4125813"/>
            <a:ext cx="10868745" cy="1122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61475" y="4648597"/>
            <a:ext cx="10868745" cy="1122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1475" y="5171380"/>
            <a:ext cx="10868745" cy="1122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1475" y="5694164"/>
            <a:ext cx="10868745" cy="1122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67825" y="2579688"/>
            <a:ext cx="5428023" cy="500559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12" name="Text 10"/>
          <p:cNvSpPr/>
          <p:nvPr/>
        </p:nvSpPr>
        <p:spPr>
          <a:xfrm>
            <a:off x="847307" y="2688332"/>
            <a:ext cx="567864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Activity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5848" y="2579688"/>
            <a:ext cx="5428023" cy="500559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14" name="Text 12"/>
          <p:cNvSpPr/>
          <p:nvPr/>
        </p:nvSpPr>
        <p:spPr>
          <a:xfrm>
            <a:off x="6275330" y="2688332"/>
            <a:ext cx="567864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MITRE ATT&amp;CK Technique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7307" y="3192066"/>
            <a:ext cx="567864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Service and vulnerability discovery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75330" y="3192066"/>
            <a:ext cx="5678643" cy="299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T1595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— Active Scanning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7307" y="3714849"/>
            <a:ext cx="567864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Web exploitation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5330" y="3714849"/>
            <a:ext cx="5678643" cy="299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T1190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— Exploit Public-Facing Application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7307" y="4237633"/>
            <a:ext cx="567864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Exposed remote services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75330" y="4237633"/>
            <a:ext cx="5678643" cy="299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T1133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— External Remote Services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7307" y="4760416"/>
            <a:ext cx="567864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Host enumeration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75330" y="4760416"/>
            <a:ext cx="5678643" cy="299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T1082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— System Information Discovery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7307" y="5283200"/>
            <a:ext cx="567864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Network enumeration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75330" y="5283200"/>
            <a:ext cx="5678643" cy="299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T1016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— System Network Configuration Discovery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7307" y="5805984"/>
            <a:ext cx="567864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Access to exposed files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75330" y="5805984"/>
            <a:ext cx="5678643" cy="299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highlight>
                  <a:srgbClr val="ECE9E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T1213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— Data from Information Repositories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28663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The Baseline ML Detector Worked, but Missed an Attack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503462"/>
            <a:ext cx="524993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Model Configuration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1860649"/>
            <a:ext cx="5249930" cy="477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Dataset:</a:t>
            </a:r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20 HTTP requests (10 normal, 10 attack)</a:t>
            </a:r>
            <a:endParaRPr lang="en-US" sz="1150" dirty="0"/>
          </a:p>
          <a:p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Model:</a:t>
            </a:r>
            <a:pPr algn="l" marL="233680" indent="-23368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Word-token TF-IDF with Logistic Regression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61475" y="2459236"/>
            <a:ext cx="524993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Performance Metrics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61475" y="2831505"/>
            <a:ext cx="5249930" cy="2297113"/>
          </a:xfrm>
          <a:prstGeom prst="roundRect">
            <a:avLst>
              <a:gd name="adj" fmla="val 987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1475" y="3216473"/>
            <a:ext cx="5249930" cy="94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61475" y="3598267"/>
            <a:ext cx="5249930" cy="94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1475" y="3980061"/>
            <a:ext cx="5249930" cy="94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1475" y="4361855"/>
            <a:ext cx="5249930" cy="94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61475" y="4743648"/>
            <a:ext cx="5249930" cy="94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286440" y="2831505"/>
            <a:ext cx="9451" cy="2297113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67825" y="2837855"/>
            <a:ext cx="2618615" cy="378619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14" name="Text 12"/>
          <p:cNvSpPr/>
          <p:nvPr/>
        </p:nvSpPr>
        <p:spPr>
          <a:xfrm>
            <a:off x="819030" y="2916734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Metric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86440" y="2837855"/>
            <a:ext cx="2618615" cy="378619"/>
          </a:xfrm>
          <a:prstGeom prst="rect">
            <a:avLst/>
          </a:prstGeom>
          <a:solidFill>
            <a:srgbClr val="D3C5B6"/>
          </a:solidFill>
          <a:ln/>
        </p:spPr>
      </p:sp>
      <p:sp>
        <p:nvSpPr>
          <p:cNvPr id="16" name="Text 14"/>
          <p:cNvSpPr/>
          <p:nvPr/>
        </p:nvSpPr>
        <p:spPr>
          <a:xfrm>
            <a:off x="3440820" y="2916734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Result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19030" y="3298527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0820" y="3298527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83.33%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19030" y="3680321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Attack Precision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440820" y="3680321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100%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9030" y="4062115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Attack Recall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440820" y="4062115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66.67%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19030" y="4443909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Attack F1 Score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440820" y="4443909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80%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19030" y="4825702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Confusion Matrix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40820" y="4825702"/>
            <a:ext cx="292261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[[3, 0], [1, 2]]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61475" y="5264646"/>
            <a:ext cx="5249930" cy="728663"/>
          </a:xfrm>
          <a:prstGeom prst="roundRect">
            <a:avLst>
              <a:gd name="adj" fmla="val 3113"/>
            </a:avLst>
          </a:prstGeom>
          <a:solidFill>
            <a:srgbClr val="FCF2B5"/>
          </a:solidFill>
          <a:ln/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680" y="5473700"/>
            <a:ext cx="189007" cy="151209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893" y="5411291"/>
            <a:ext cx="4607306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Overall accuracy appeared acceptable, but the model missed one malicious sample. In security, that false negative matters.</a:t>
            </a:r>
            <a:endParaRPr lang="en-US" sz="11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640" y="1655862"/>
            <a:ext cx="4199924" cy="42000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2387"/>
            <a:ext cx="10868745" cy="4069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Evasion Testing Exposed the Cost of Narrow Training Data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661475" y="1108869"/>
            <a:ext cx="11478330" cy="176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The character model improved evasion coverage but introduced new trade-offs. ML must complement normalization, rules, behavioral analytics, and human review.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2857401"/>
            <a:ext cx="5275527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Baseline (Word-Token)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61475" y="3150592"/>
            <a:ext cx="5275527" cy="590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03200" indent="-2032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Detected 3 of 4 evasion samples</a:t>
            </a:r>
            <a:endParaRPr lang="en-US" sz="1000" dirty="0"/>
          </a:p>
          <a:p>
            <a:pPr algn="l" marL="203200" indent="-2032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URL-encoded XSS classified as </a:t>
            </a:r>
            <a:pPr algn="l" marL="203200" indent="-203200">
              <a:lnSpc>
                <a:spcPct val="113000"/>
              </a:lnSpc>
              <a:buSzPct val="100000"/>
              <a:buChar char="•"/>
            </a:pPr>
            <a:r>
              <a:rPr lang="en-US" sz="1000" b="1" dirty="0">
                <a:solidFill>
                  <a:srgbClr val="746558"/>
                </a:solidFill>
                <a:latin typeface="Gelasio Bold" pitchFamily="34" charset="0"/>
                <a:ea typeface="Gelasio Bold" pitchFamily="34" charset="-122"/>
                <a:cs typeface="Gelasio Bold" pitchFamily="34" charset="-120"/>
              </a:rPr>
              <a:t>normal</a:t>
            </a:r>
            <a:pPr algn="l" marL="203200" indent="-2032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— missed</a:t>
            </a:r>
            <a:endParaRPr lang="en-US" sz="1000" dirty="0"/>
          </a:p>
          <a:p>
            <a:pPr algn="l" marL="203200" indent="-2032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SQL injection variants remained flagged as attacks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1475" y="3831034"/>
            <a:ext cx="5275527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Character N-Gram Defender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61475" y="4124226"/>
            <a:ext cx="5275527" cy="7981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03200" indent="-2032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Detected all 4 evasion samples</a:t>
            </a:r>
            <a:endParaRPr lang="en-US" sz="1000" dirty="0"/>
          </a:p>
          <a:p>
            <a:pPr algn="l" marL="203200" indent="-2032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Accuracy: 66.67%</a:t>
            </a:r>
            <a:endParaRPr lang="en-US" sz="1000" dirty="0"/>
          </a:p>
          <a:p>
            <a:pPr algn="l" marL="203200" indent="-2032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Introduced a false positive and missed a separate test-set attack</a:t>
            </a:r>
            <a:endParaRPr lang="en-US" sz="1000" dirty="0"/>
          </a:p>
          <a:p>
            <a:pPr algn="l" marL="203200" indent="-203200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Improved evasion coverage created detection trade-offs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1043" y="1486694"/>
            <a:ext cx="4747895" cy="47480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1314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Remediation Should Reduce Entry, Movement, and Detection Gaps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230636"/>
            <a:ext cx="3496877" cy="3956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75881" y="3012083"/>
            <a:ext cx="306806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Immediate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875881" y="3420765"/>
            <a:ext cx="3068065" cy="2551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Remove TCP 1524 bind shell and isolate the affected VM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Disable unnecessary FTP, Telnet, NFS/RPC, SMB, and legacy web services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Block unnecessary ports and remove anonymous or cleartext access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2230636"/>
            <a:ext cx="3496877" cy="39560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61766" y="3012083"/>
            <a:ext cx="306806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Near Term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561766" y="3420765"/>
            <a:ext cx="3068065" cy="2249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Use parameterized queries and server-side input validation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Restrict exposed directories, backups, and sensitive files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Enforce network segmentation, least privilege, and authentication logging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33244" y="2230636"/>
            <a:ext cx="3496877" cy="39560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247650" y="3012083"/>
            <a:ext cx="306806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Long Term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247650" y="3420765"/>
            <a:ext cx="3068065" cy="2551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Train detectors with larger, more varied datasets including encoded and obfuscated samples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Normalize and decode requests before classification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Combine ML, rules, behavioral detection, threat intelligence, and response playbooks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915392"/>
            <a:ext cx="6296860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RedScope Turned Controlled Testing into Practical Risk Reduction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61475" y="1881188"/>
            <a:ext cx="6296860" cy="706735"/>
          </a:xfrm>
          <a:prstGeom prst="roundRect">
            <a:avLst>
              <a:gd name="adj" fmla="val 2808"/>
            </a:avLst>
          </a:prstGeom>
          <a:solidFill>
            <a:srgbClr val="EEE8DD"/>
          </a:solidFill>
          <a:ln/>
        </p:spPr>
      </p:sp>
      <p:sp>
        <p:nvSpPr>
          <p:cNvPr id="5" name="Text 2"/>
          <p:cNvSpPr/>
          <p:nvPr/>
        </p:nvSpPr>
        <p:spPr>
          <a:xfrm>
            <a:off x="793730" y="2013446"/>
            <a:ext cx="6032349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10 Findings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93730" y="2275681"/>
            <a:ext cx="6032349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1 Critical, 3 High, 6 Medium — fully documented with evidence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61475" y="2680494"/>
            <a:ext cx="6296860" cy="706735"/>
          </a:xfrm>
          <a:prstGeom prst="roundRect">
            <a:avLst>
              <a:gd name="adj" fmla="val 2808"/>
            </a:avLst>
          </a:prstGeom>
          <a:solidFill>
            <a:srgbClr val="EEE8DD"/>
          </a:solidFill>
          <a:ln/>
        </p:spPr>
      </p:sp>
      <p:sp>
        <p:nvSpPr>
          <p:cNvPr id="8" name="Text 5"/>
          <p:cNvSpPr/>
          <p:nvPr/>
        </p:nvSpPr>
        <p:spPr>
          <a:xfrm>
            <a:off x="793730" y="2812752"/>
            <a:ext cx="6032349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Full Lifecycle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93730" y="3074988"/>
            <a:ext cx="6032349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Offense, detection, and remediation connected in one assessment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1475" y="3479800"/>
            <a:ext cx="6296860" cy="706735"/>
          </a:xfrm>
          <a:prstGeom prst="roundRect">
            <a:avLst>
              <a:gd name="adj" fmla="val 2808"/>
            </a:avLst>
          </a:prstGeom>
          <a:solidFill>
            <a:srgbClr val="EEE8DD"/>
          </a:solidFill>
          <a:ln/>
        </p:spPr>
      </p:sp>
      <p:sp>
        <p:nvSpPr>
          <p:cNvPr id="11" name="Text 8"/>
          <p:cNvSpPr/>
          <p:nvPr/>
        </p:nvSpPr>
        <p:spPr>
          <a:xfrm>
            <a:off x="793730" y="3612059"/>
            <a:ext cx="6032349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ML Validated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93730" y="3874294"/>
            <a:ext cx="6032349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Detection tested against evasion — not assumed to work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61475" y="4279106"/>
            <a:ext cx="6296860" cy="706735"/>
          </a:xfrm>
          <a:prstGeom prst="roundRect">
            <a:avLst>
              <a:gd name="adj" fmla="val 2808"/>
            </a:avLst>
          </a:prstGeom>
          <a:solidFill>
            <a:srgbClr val="EEE8DD"/>
          </a:solidFill>
          <a:ln/>
        </p:spPr>
      </p:sp>
      <p:sp>
        <p:nvSpPr>
          <p:cNvPr id="14" name="Text 11"/>
          <p:cNvSpPr/>
          <p:nvPr/>
        </p:nvSpPr>
        <p:spPr>
          <a:xfrm>
            <a:off x="793730" y="4411365"/>
            <a:ext cx="6032349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Risk Mapped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3730" y="4673600"/>
            <a:ext cx="6032349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Findings translated to business impact and corrective action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61475" y="5090021"/>
            <a:ext cx="19050" cy="568325"/>
          </a:xfrm>
          <a:prstGeom prst="roundRect">
            <a:avLst>
              <a:gd name="adj" fmla="val 59999"/>
            </a:avLst>
          </a:prstGeom>
          <a:solidFill>
            <a:srgbClr val="D3C5B6"/>
          </a:solidFill>
          <a:ln/>
        </p:spPr>
      </p:sp>
      <p:sp>
        <p:nvSpPr>
          <p:cNvPr id="17" name="Text 14"/>
          <p:cNvSpPr/>
          <p:nvPr/>
        </p:nvSpPr>
        <p:spPr>
          <a:xfrm>
            <a:off x="859907" y="5194201"/>
            <a:ext cx="6098427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RedScope demonstrates how authorized, repeatable security testing can become measurable business risk reduction.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56682" y="5762526"/>
            <a:ext cx="6906444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3000"/>
              </a:lnSpc>
              <a:buNone/>
            </a:pPr>
            <a:r>
              <a:rPr lang="en-US" sz="1000" i="1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Questions and Discussion  |  RedScope Capstone Project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2026-07-24T13:56:08Z</dcterms:created>
  <dcterms:modified xsi:type="dcterms:W3CDTF">2026-07-24T13:56:08Z</dcterms:modified>
</cp:coreProperties>
</file>